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292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9687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164592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914400" cy="164592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914400" cy="164592"/>
          </a:xfrm>
          <a:prstGeom prst="rect">
            <a:avLst/>
          </a:prstGeom>
          <a:solidFill>
            <a:srgbClr val="4A7A2E"/>
          </a:solidFill>
          <a:ln w="12700">
            <a:solidFill>
              <a:srgbClr val="4A7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914400" cy="164592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914400" cy="164592"/>
          </a:xfrm>
          <a:prstGeom prst="rect">
            <a:avLst/>
          </a:prstGeom>
          <a:solidFill>
            <a:srgbClr val="6DAB48"/>
          </a:solidFill>
          <a:ln w="12700">
            <a:solidFill>
              <a:srgbClr val="6DAB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914400" cy="164592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914400" cy="164592"/>
          </a:xfrm>
          <a:prstGeom prst="rect">
            <a:avLst/>
          </a:prstGeom>
          <a:solidFill>
            <a:srgbClr val="4A7A2E"/>
          </a:solidFill>
          <a:ln w="12700">
            <a:solidFill>
              <a:srgbClr val="4A7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914400" cy="164592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914400" cy="164592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914400" cy="164592"/>
          </a:xfrm>
          <a:prstGeom prst="rect">
            <a:avLst/>
          </a:prstGeom>
          <a:solidFill>
            <a:srgbClr val="6DAB48"/>
          </a:solidFill>
          <a:ln w="12700">
            <a:solidFill>
              <a:srgbClr val="6DAB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64592"/>
            <a:ext cx="914400" cy="164592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164592"/>
            <a:ext cx="914400" cy="164592"/>
          </a:xfrm>
          <a:prstGeom prst="rect">
            <a:avLst/>
          </a:prstGeom>
          <a:solidFill>
            <a:srgbClr val="7A5230"/>
          </a:solidFill>
          <a:ln w="12700">
            <a:solidFill>
              <a:srgbClr val="7A52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164592"/>
            <a:ext cx="914400" cy="164592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164592"/>
            <a:ext cx="914400" cy="164592"/>
          </a:xfrm>
          <a:prstGeom prst="rect">
            <a:avLst/>
          </a:prstGeom>
          <a:solidFill>
            <a:srgbClr val="9B6A42"/>
          </a:solidFill>
          <a:ln w="12700">
            <a:solidFill>
              <a:srgbClr val="9B6A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164592"/>
            <a:ext cx="914400" cy="164592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164592"/>
            <a:ext cx="914400" cy="164592"/>
          </a:xfrm>
          <a:prstGeom prst="rect">
            <a:avLst/>
          </a:prstGeom>
          <a:solidFill>
            <a:srgbClr val="7A5230"/>
          </a:solidFill>
          <a:ln w="12700">
            <a:solidFill>
              <a:srgbClr val="7A52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164592"/>
            <a:ext cx="914400" cy="164592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164592"/>
            <a:ext cx="914400" cy="164592"/>
          </a:xfrm>
          <a:prstGeom prst="rect">
            <a:avLst/>
          </a:prstGeom>
          <a:solidFill>
            <a:srgbClr val="9B6A42"/>
          </a:solidFill>
          <a:ln w="12700">
            <a:solidFill>
              <a:srgbClr val="9B6A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164592"/>
            <a:ext cx="914400" cy="164592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164592"/>
            <a:ext cx="914400" cy="164592"/>
          </a:xfrm>
          <a:prstGeom prst="rect">
            <a:avLst/>
          </a:prstGeom>
          <a:solidFill>
            <a:srgbClr val="7A5230"/>
          </a:solidFill>
          <a:ln w="12700">
            <a:solidFill>
              <a:srgbClr val="7A52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983480"/>
            <a:ext cx="914400" cy="164592"/>
          </a:xfrm>
          <a:prstGeom prst="rect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983480"/>
            <a:ext cx="914400" cy="164592"/>
          </a:xfrm>
          <a:prstGeom prst="rect">
            <a:avLst/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0" y="4983480"/>
            <a:ext cx="914400" cy="164592"/>
          </a:xfrm>
          <a:prstGeom prst="rect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4983480"/>
            <a:ext cx="914400" cy="164592"/>
          </a:xfrm>
          <a:prstGeom prst="rect">
            <a:avLst/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0" y="4983480"/>
            <a:ext cx="914400" cy="164592"/>
          </a:xfrm>
          <a:prstGeom prst="rect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4983480"/>
            <a:ext cx="914400" cy="164592"/>
          </a:xfrm>
          <a:prstGeom prst="rect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4983480"/>
            <a:ext cx="914400" cy="164592"/>
          </a:xfrm>
          <a:prstGeom prst="rect">
            <a:avLst/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4983480"/>
            <a:ext cx="914400" cy="164592"/>
          </a:xfrm>
          <a:prstGeom prst="rect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4983480"/>
            <a:ext cx="914400" cy="164592"/>
          </a:xfrm>
          <a:prstGeom prst="rect">
            <a:avLst/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4983480"/>
            <a:ext cx="914400" cy="164592"/>
          </a:xfrm>
          <a:prstGeom prst="rect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7280" y="7315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FF"/>
                </a:solidFill>
              </a:rPr>
              <a:t>✦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83280" y="10058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FF"/>
                </a:solidFill>
              </a:rPr>
              <a:t>✦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52160" y="5486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FF"/>
                </a:solidFill>
              </a:rPr>
              <a:t>✦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138160" y="8229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FF"/>
                </a:solidFill>
              </a:rPr>
              <a:t>✦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63440" y="13716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FF"/>
                </a:solidFill>
              </a:rPr>
              <a:t>✦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1280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FF"/>
                </a:solidFill>
              </a:rPr>
              <a:t>✦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778240" y="11887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CCFF"/>
                </a:solidFill>
              </a:rPr>
              <a:t>✦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1371600"/>
            <a:ext cx="155448" cy="155448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0352" y="1371600"/>
            <a:ext cx="155448" cy="155448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4944" y="1371600"/>
            <a:ext cx="155448" cy="155448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9536" y="1371600"/>
            <a:ext cx="155448" cy="155448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24128" y="1371600"/>
            <a:ext cx="155448" cy="155448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88720" y="1371600"/>
            <a:ext cx="155448" cy="155448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5760" y="1536192"/>
            <a:ext cx="155448" cy="155448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0352" y="1536192"/>
            <a:ext cx="155448" cy="15544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4944" y="1536192"/>
            <a:ext cx="155448" cy="15544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59536" y="1536192"/>
            <a:ext cx="155448" cy="155448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24128" y="1536192"/>
            <a:ext cx="155448" cy="15544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88720" y="1536192"/>
            <a:ext cx="155448" cy="15544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760" y="1700784"/>
            <a:ext cx="155448" cy="155448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0352" y="1700784"/>
            <a:ext cx="155448" cy="15544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4944" y="1700784"/>
            <a:ext cx="155448" cy="15544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59536" y="1700784"/>
            <a:ext cx="155448" cy="155448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24128" y="1700784"/>
            <a:ext cx="155448" cy="15544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88720" y="1700784"/>
            <a:ext cx="155448" cy="15544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5760" y="1865376"/>
            <a:ext cx="155448" cy="155448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0352" y="1865376"/>
            <a:ext cx="155448" cy="155448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94944" y="1865376"/>
            <a:ext cx="155448" cy="15544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59536" y="1865376"/>
            <a:ext cx="155448" cy="15544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24128" y="1865376"/>
            <a:ext cx="155448" cy="15544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88720" y="1865376"/>
            <a:ext cx="155448" cy="155448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65760" y="2029968"/>
            <a:ext cx="155448" cy="155448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30352" y="2029968"/>
            <a:ext cx="155448" cy="155448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4944" y="2029968"/>
            <a:ext cx="155448" cy="15544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59536" y="2029968"/>
            <a:ext cx="155448" cy="15544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24128" y="2029968"/>
            <a:ext cx="155448" cy="15544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88720" y="2029968"/>
            <a:ext cx="155448" cy="155448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65760" y="2194560"/>
            <a:ext cx="155448" cy="15544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30352" y="2194560"/>
            <a:ext cx="155448" cy="15544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94944" y="2194560"/>
            <a:ext cx="155448" cy="155448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59536" y="2194560"/>
            <a:ext cx="155448" cy="155448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24128" y="2194560"/>
            <a:ext cx="155448" cy="15544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88720" y="2194560"/>
            <a:ext cx="155448" cy="155448"/>
          </a:xfrm>
          <a:prstGeom prst="rect">
            <a:avLst/>
          </a:prstGeom>
          <a:solidFill>
            <a:srgbClr val="1C1C1C"/>
          </a:solidFill>
          <a:ln w="12700">
            <a:solidFill>
              <a:srgbClr val="1C1C1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645920" y="1280160"/>
            <a:ext cx="7132320" cy="1005840"/>
          </a:xfrm>
          <a:prstGeom prst="rect">
            <a:avLst/>
          </a:prstGeom>
          <a:noFill/>
          <a:ln/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Minecraft Map Generation</a:t>
            </a:r>
            <a:endParaRPr lang="en-US" sz="4200" dirty="0"/>
          </a:p>
        </p:txBody>
      </p:sp>
      <p:sp>
        <p:nvSpPr>
          <p:cNvPr id="76" name="Text 74"/>
          <p:cNvSpPr/>
          <p:nvPr/>
        </p:nvSpPr>
        <p:spPr>
          <a:xfrm>
            <a:off x="1645920" y="224028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800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SEEDS</a:t>
            </a:r>
            <a:endParaRPr lang="en-US" sz="2400" dirty="0"/>
          </a:p>
        </p:txBody>
      </p:sp>
      <p:sp>
        <p:nvSpPr>
          <p:cNvPr id="77" name="Text 75"/>
          <p:cNvSpPr/>
          <p:nvPr/>
        </p:nvSpPr>
        <p:spPr>
          <a:xfrm>
            <a:off x="1645920" y="288036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ACC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Pseudocode Tutorial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0" y="4114800"/>
            <a:ext cx="9144000" cy="704088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0" y="4114800"/>
            <a:ext cx="91440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AE8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Topics: Seeds &amp; Randomness  •  Noise Functions  •  Biomes  •  Structures  •  Chunk Loading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E8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 Seed?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0" y="182880"/>
            <a:ext cx="1737360" cy="292608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18288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2743200" cy="2483893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2743200" cy="457200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914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Seed is a Number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" y="1508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🔢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65760" y="224028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Minecraft world starts with a seed — a large integer that acts as the starting point for all random generation. The same seed always produces the exact same world.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2743200" cy="2483893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914400"/>
            <a:ext cx="2743200" cy="457200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914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Output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1508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🔄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337560" y="224028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matter how many times you use a seed, the output is identical. This is called determinism: the same input always gives the same output.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72200" y="914400"/>
            <a:ext cx="2743200" cy="2483893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914400"/>
            <a:ext cx="2743200" cy="457200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914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Huge Possibility Space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15087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🌍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309360" y="2240280"/>
            <a:ext cx="2468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can be any 64-bit integer, giving ~18.4 quintillion possible worlds — more than enough for every player on Earth to have a unique universe.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" y="3489733"/>
            <a:ext cx="8686800" cy="1512035"/>
          </a:xfrm>
          <a:prstGeom prst="rect">
            <a:avLst/>
          </a:prstGeom>
          <a:solidFill>
            <a:srgbClr val="0D1117"/>
          </a:solidFill>
          <a:ln w="25400">
            <a:solidFill>
              <a:srgbClr val="5D8A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4134" y="3478929"/>
            <a:ext cx="86868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D8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PSEUDOCODE — World Seed Initialization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4134" y="3684623"/>
            <a:ext cx="8686800" cy="493776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Minecraft, world creation looks like this: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WORLD_SEED = 12345           // user types a seed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rng = new Random(WORLD_SEED) // seed the random number generator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 = generate(rng)         // everything flows from this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E8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Pseudo-Random Number Generators (PRNGs)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949440" y="182880"/>
            <a:ext cx="1737360" cy="292608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18288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CONCEPT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E3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PRNGs 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PRNG takes a seed and produces a sequence of numbers that appear random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same seed, the sequence is always identical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Minecraft uses a Linear Congruential Generator (LCG)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to nextInt() advances the state deterministically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4320" y="3108960"/>
            <a:ext cx="411480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2E6099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31272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5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LCG Formula: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40156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next_state = (a × state + c)  mod  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777240"/>
            <a:ext cx="4251960" cy="4251960"/>
          </a:xfrm>
          <a:prstGeom prst="rect">
            <a:avLst/>
          </a:prstGeom>
          <a:solidFill>
            <a:srgbClr val="0D1117"/>
          </a:solidFill>
          <a:ln w="25400">
            <a:solidFill>
              <a:srgbClr val="5D8A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22580" y="777240"/>
            <a:ext cx="425196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D8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PSEUDOCODE — PRNG Implementation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22580" y="1033272"/>
            <a:ext cx="4251960" cy="3995928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initRandom(seed):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 = seed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state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nextInt(state):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LCG constants (Minecraft's actual values)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 = 6364136223846793005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 = 1442695040888963407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 = 2^64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 = (a * state + c) mod m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state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Usage example: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rng_state = initRandom(WORLD_SEED)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value1 = nextInt(rng_state)  // first "random" number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value2 = nextInt(rng_state)  // second, always same if seed same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E8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Noise Functions — The Shape of Terrain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223760" y="182880"/>
            <a:ext cx="1737360" cy="292608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23760" y="18288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TERRAIN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743200" cy="97840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77240"/>
            <a:ext cx="2743200" cy="347472"/>
          </a:xfrm>
          <a:prstGeom prst="rect">
            <a:avLst/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772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5F5"/>
                </a:solidFill>
              </a:rPr>
              <a:t>White Noise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17043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randomness — each pixel is independent. Looks like TV static. NOT used for terrain.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777240"/>
            <a:ext cx="2743200" cy="97840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777240"/>
            <a:ext cx="2743200" cy="347472"/>
          </a:xfrm>
          <a:prstGeom prst="rect">
            <a:avLst/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7772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5F5"/>
                </a:solidFill>
              </a:rPr>
              <a:t>Perlin Noise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17043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gradients using dot products of gradient vectors. Produces natural-looking hills and valleys.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777240"/>
            <a:ext cx="2743200" cy="97840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777240"/>
            <a:ext cx="2743200" cy="347472"/>
          </a:xfrm>
          <a:prstGeom prst="rect">
            <a:avLst/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7772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5F5"/>
                </a:solidFill>
              </a:rPr>
              <a:t>Octaved Noise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117043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Perlin layers (octaves) combined to add fine detail on top of broad shapes — mountains + rocks + pebbles.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1801367"/>
            <a:ext cx="8686800" cy="3261951"/>
          </a:xfrm>
          <a:prstGeom prst="rect">
            <a:avLst/>
          </a:prstGeom>
          <a:solidFill>
            <a:srgbClr val="0D1117"/>
          </a:solidFill>
          <a:ln w="25400">
            <a:solidFill>
              <a:srgbClr val="5D8A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0040" y="1719072"/>
            <a:ext cx="868680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D8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PSEUDOCODE — Perlin Noise &amp; Octave Stacking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1879092"/>
            <a:ext cx="8686800" cy="3184225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perlinNoise(x, y, seed):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1. Find grid cell corners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xi = floor(x),  yi = floor(y)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2. Local coordinates within cell (0..1)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xf = x - xi,    yf = y - yi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3. Smooth interpolation curve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 = fade(xf),   v = fade(yf)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4. Gradient hash at each corner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aa = hash(xi,   yi,   seed)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 = hash(xi+1, yi,   seed)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ab = hash(xi,   yi+1, seed)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bb = hash(xi+1, yi+1, seed)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5. Bilinear interpolation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x1 = lerp(aa, ba, u)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x2 = lerp(ab, bb, u)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lerp(x1, x2, v)          // value in [-1, 1]</a:t>
            </a:r>
            <a:endParaRPr lang="en-US" sz="800" dirty="0"/>
          </a:p>
          <a:p>
            <a:pPr marL="0" indent="0" algn="l">
              <a:buNone/>
            </a:pP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octaveNoise(x, y, seed, octaves=6):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0,  frequency = 1,  amplitude = 1,  maxVal = 0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0..octaves: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    += perlinNoise(x*frequency, y*frequency, seed+i) * amplitude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maxVal   += amplitude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amplitude *= 0.5        // each octave is quieter (persistence)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frequency *= 2.0        // each octave is finer  (lacunarity)</a:t>
            </a:r>
            <a:endParaRPr lang="en-US" sz="8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total / maxVal       // normalize to [-1, 1]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E8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6031"/>
          </a:solidFill>
          <a:ln w="12700">
            <a:solidFill>
              <a:srgbClr val="2E60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Heightmap to Blocks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18288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3474720" cy="475488"/>
          </a:xfrm>
          <a:prstGeom prst="rect">
            <a:avLst/>
          </a:prstGeom>
          <a:solidFill>
            <a:srgbClr val="D4EDFF"/>
          </a:solidFill>
          <a:ln w="25400">
            <a:solidFill>
              <a:srgbClr val="A0CA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6868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380744"/>
            <a:ext cx="3474720" cy="475488"/>
          </a:xfrm>
          <a:prstGeom prst="rect">
            <a:avLst/>
          </a:prstGeom>
          <a:solidFill>
            <a:srgbClr val="5D8A3C"/>
          </a:solidFill>
          <a:ln w="25400">
            <a:solidFill>
              <a:srgbClr val="4A7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80744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GRASS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1892808"/>
            <a:ext cx="3474720" cy="475488"/>
          </a:xfrm>
          <a:prstGeom prst="rect">
            <a:avLst/>
          </a:prstGeom>
          <a:solidFill>
            <a:srgbClr val="8B5E3C"/>
          </a:solidFill>
          <a:ln w="25400">
            <a:solidFill>
              <a:srgbClr val="6B3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9280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DIRT  ×3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404872"/>
            <a:ext cx="3474720" cy="475488"/>
          </a:xfrm>
          <a:prstGeom prst="rect">
            <a:avLst/>
          </a:prstGeom>
          <a:solidFill>
            <a:srgbClr val="7A7A7A"/>
          </a:solidFill>
          <a:ln w="25400">
            <a:solidFill>
              <a:srgbClr val="5A5A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40487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STONE ×N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2916936"/>
            <a:ext cx="3474720" cy="475488"/>
          </a:xfrm>
          <a:prstGeom prst="rect">
            <a:avLst/>
          </a:prstGeom>
          <a:solidFill>
            <a:srgbClr val="2C2C2C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91693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BEDROCK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" y="3520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</a:rPr>
              <a:t>Typical column at height 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931920" y="777240"/>
            <a:ext cx="4983480" cy="4206240"/>
          </a:xfrm>
          <a:prstGeom prst="rect">
            <a:avLst/>
          </a:prstGeom>
          <a:solidFill>
            <a:srgbClr val="0D1117"/>
          </a:solidFill>
          <a:ln w="25400">
            <a:solidFill>
              <a:srgbClr val="5D8A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31920" y="777240"/>
            <a:ext cx="498348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D8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PSEUDOCODE — Column Block Placement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931920" y="1033272"/>
            <a:ext cx="4983480" cy="3950208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generateColumn(x, z, seed):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1. Sample the heightmap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noiseVal = octaveNoise(x, z, seed)   // -1 to 1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height   = round(64 + noiseVal * 40) // sea level=64, range 24-104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y IN 0..255: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y == 0: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placeBlock(x, y, z, BEDROCK)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IF y &lt; height - 4: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placeBlock(x, y, z, STONE)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IF y &lt; height - 1: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placeBlock(x, y, z, DIRT)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IF y == height - 1: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placeBlock(x, y, z, GRASS)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placeBlock(x, y, z, AIR)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Add water if below sea level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height &lt; 64: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y IN height..63: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placeBlock(x, y, z, WATER)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E8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6B6B"/>
          </a:solidFill>
          <a:ln w="12700">
            <a:solidFill>
              <a:srgbClr val="1A6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Biome Assignment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232904" y="182880"/>
            <a:ext cx="1737360" cy="292608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69480" y="18968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" y="804672"/>
            <a:ext cx="1627632" cy="640080"/>
          </a:xfrm>
          <a:prstGeom prst="rect">
            <a:avLst/>
          </a:prstGeom>
          <a:solidFill>
            <a:srgbClr val="E8C96A"/>
          </a:solidFill>
          <a:ln w="12700">
            <a:solidFill>
              <a:srgbClr val="AAA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" y="80467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C3A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Desert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" y="1072669"/>
            <a:ext cx="1627632" cy="289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 &gt; 0.9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Rain &lt; 0.2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20240" y="804672"/>
            <a:ext cx="1627632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AAA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20240" y="80467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1060704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 0.5–0.8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Rain &gt; 0.5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03320" y="804672"/>
            <a:ext cx="1627632" cy="640080"/>
          </a:xfrm>
          <a:prstGeom prst="rect">
            <a:avLst/>
          </a:prstGeom>
          <a:solidFill>
            <a:srgbClr val="C5D8E8"/>
          </a:solidFill>
          <a:ln w="12700">
            <a:solidFill>
              <a:srgbClr val="AAA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03320" y="80467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A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Tundra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03320" y="1072669"/>
            <a:ext cx="1627632" cy="314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 &lt; 0.2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Rain &lt; 0.4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804672"/>
            <a:ext cx="1627632" cy="640080"/>
          </a:xfrm>
          <a:prstGeom prst="rect">
            <a:avLst/>
          </a:prstGeom>
          <a:solidFill>
            <a:srgbClr val="4A6741"/>
          </a:solidFill>
          <a:ln w="12700">
            <a:solidFill>
              <a:srgbClr val="AAA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0" y="80467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Swamp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1073805"/>
            <a:ext cx="1627632" cy="2875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 0.5–0.7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Rain &gt; 0.8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269480" y="804672"/>
            <a:ext cx="1627632" cy="640080"/>
          </a:xfrm>
          <a:prstGeom prst="rect">
            <a:avLst/>
          </a:prstGeom>
          <a:solidFill>
            <a:srgbClr val="8A8A8A"/>
          </a:solidFill>
          <a:ln w="12700">
            <a:solidFill>
              <a:srgbClr val="AAAAA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69480" y="804672"/>
            <a:ext cx="16276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Mountains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87768" y="1072669"/>
            <a:ext cx="1627632" cy="3474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Height &gt; 100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5F5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 &lt; 0.5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37160" y="1493293"/>
            <a:ext cx="8759952" cy="3533632"/>
          </a:xfrm>
          <a:prstGeom prst="rect">
            <a:avLst/>
          </a:prstGeom>
          <a:solidFill>
            <a:srgbClr val="0D1117"/>
          </a:solidFill>
          <a:ln w="25400">
            <a:solidFill>
              <a:srgbClr val="5D8A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10312" y="1543744"/>
            <a:ext cx="8759952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D8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PSEUDOCODE — Biome Selection from Noise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0312" y="1755376"/>
            <a:ext cx="8759952" cy="3277600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assignBiome(x, z, seed):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Two independent noise maps for temperature and rainfall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temperature = octaveNoise(x, z, seed + 1000, octaves=4)   // -1 to 1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rainfall    = octaveNoise(x, z, seed + 2000, octaves=4)   // -1 to 1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Normalize to 0..1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 = (temperature + 1) / 2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rain = (rainfall    + 1) / 2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Biome lookup table (Whittaker diagram logic)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temp &gt; 0.9 AND rain &lt; 0.2:     RETURN "DESERT"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 temp &gt; 0.7 AND rain &gt; 0.7: RETURN "JUNGLE"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 temp &gt; 0.5 AND rain &gt; 0.5: RETURN "FOREST"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 temp &lt; 0.2:                RETURN "TUNDRA"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IF rain &gt; 0.8:                RETURN "SWAMP"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                              RETURN "PLAINS"</a:t>
            </a:r>
            <a:endParaRPr lang="en-US" sz="900" dirty="0"/>
          </a:p>
          <a:p>
            <a:pPr marL="0" indent="0" algn="l">
              <a:buNone/>
            </a:pP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Biome affects block types AND decoration: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getTopBlock(biome):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biome == "DESERT":  RETURN SAND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biome == "TUNDRA":  RETURN SNOW</a:t>
            </a:r>
            <a:endParaRPr lang="en-US" sz="900" dirty="0"/>
          </a:p>
          <a:p>
            <a:pPr marL="0" indent="0" algn="l">
              <a:buNone/>
            </a:pPr>
            <a:r>
              <a:rPr lang="en-US" sz="9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                  RETURN GRASS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E8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Structures — Trees, Caves &amp; Villages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040880" y="182880"/>
            <a:ext cx="1737360" cy="292608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0" y="18288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3474720" cy="41605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04672"/>
            <a:ext cx="3474720" cy="384048"/>
          </a:xfrm>
          <a:prstGeom prst="rect">
            <a:avLst/>
          </a:prstGeom>
          <a:solidFill>
            <a:srgbClr val="4A235A"/>
          </a:solidFill>
          <a:ln w="12700">
            <a:solidFill>
              <a:srgbClr val="4A23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0467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5F5"/>
                </a:solidFill>
              </a:rPr>
              <a:t>Structure Types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129844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🌲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129844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5727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per chunk,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biome-dependent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201168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🏘️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201168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22860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~30 chunks,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grid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2724912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⛏️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2960" y="272491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29992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Perlin worms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throughout stone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3438144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🔮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2960" y="343814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Dungeons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3712464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random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in stone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4151376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🏯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2960" y="415137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3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Strongholds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42569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distance rings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around spawn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31920" y="804672"/>
            <a:ext cx="4983480" cy="4160520"/>
          </a:xfrm>
          <a:prstGeom prst="rect">
            <a:avLst/>
          </a:prstGeom>
          <a:solidFill>
            <a:srgbClr val="0D1117"/>
          </a:solidFill>
          <a:ln w="25400">
            <a:solidFill>
              <a:srgbClr val="5D8A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931920" y="804672"/>
            <a:ext cx="498348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D8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PSEUDOCODE — Structure Placement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31920" y="1060704"/>
            <a:ext cx="4983480" cy="3904488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placeStructures(chunk_x, chunk_z, seed):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Each structure type gets its own seeded RNG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tree_rng  = new Random(seed XOR hash(chunk_x, chunk_z, 1))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vill_rng  = new Random(seed XOR hash(chunk_x, chunk_z, 2))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Trees: try placing 1-3 per chunk surface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tree_count = tree_rng.nextInt(3) + 1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0..tree_count: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tx = chunk_x*16 + tree_rng.nextInt(16)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tz = chunk_z*16 + tree_rng.nextInt(16)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ty = getHeightAt(tx, tz)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getSurface(tx, tz) == GRASS: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placeTree(tx, ty, tz, getBiome(tx,tz))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Villages: deterministic placement on a coarse grid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vgrid_x = floor(chunk_x / 32)   // one village per 32-chunk region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vgrid_z = floor(chunk_z / 32)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vill_seed = hash(vgrid_x, vgrid_z, seed)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vill_seed mod 3 == 0:         // ~33% of grid cells get a village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vx = vgrid_x*32*16 + (vill_seed mod 512)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vz = vgrid_z*32*16 + (vill_seed mod 512)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placeVillage(vx, vz)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E8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E6099"/>
          </a:solidFill>
          <a:ln w="12700">
            <a:solidFill>
              <a:srgbClr val="2E60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Chunk System — Loading on Demand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903720" y="182880"/>
            <a:ext cx="1737360" cy="292608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03720" y="18288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713232" cy="713232"/>
          </a:xfrm>
          <a:prstGeom prst="rect">
            <a:avLst/>
          </a:prstGeom>
          <a:solidFill>
            <a:srgbClr val="3A7BD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2416" y="822960"/>
            <a:ext cx="713232" cy="713232"/>
          </a:xfrm>
          <a:prstGeom prst="rect">
            <a:avLst/>
          </a:prstGeom>
          <a:solidFill>
            <a:srgbClr val="3A7BD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10512" y="822960"/>
            <a:ext cx="713232" cy="713232"/>
          </a:xfrm>
          <a:prstGeom prst="rect">
            <a:avLst/>
          </a:prstGeom>
          <a:solidFill>
            <a:srgbClr val="5A9BF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78608" y="822960"/>
            <a:ext cx="713232" cy="713232"/>
          </a:xfrm>
          <a:prstGeom prst="rect">
            <a:avLst/>
          </a:prstGeom>
          <a:solidFill>
            <a:srgbClr val="3A7BD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46704" y="822960"/>
            <a:ext cx="713232" cy="713232"/>
          </a:xfrm>
          <a:prstGeom prst="rect">
            <a:avLst/>
          </a:prstGeom>
          <a:solidFill>
            <a:srgbClr val="7ABCF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591056"/>
            <a:ext cx="713232" cy="713232"/>
          </a:xfrm>
          <a:prstGeom prst="rect">
            <a:avLst/>
          </a:prstGeom>
          <a:solidFill>
            <a:srgbClr val="3A7BD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2416" y="1591056"/>
            <a:ext cx="713232" cy="713232"/>
          </a:xfrm>
          <a:prstGeom prst="rect">
            <a:avLst/>
          </a:prstGeom>
          <a:solidFill>
            <a:srgbClr val="FFD7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10512" y="1591056"/>
            <a:ext cx="713232" cy="713232"/>
          </a:xfrm>
          <a:prstGeom prst="rect">
            <a:avLst/>
          </a:prstGeom>
          <a:solidFill>
            <a:srgbClr val="FFD7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78608" y="1591056"/>
            <a:ext cx="713232" cy="713232"/>
          </a:xfrm>
          <a:prstGeom prst="rect">
            <a:avLst/>
          </a:prstGeom>
          <a:solidFill>
            <a:srgbClr val="FFD7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46704" y="1591056"/>
            <a:ext cx="713232" cy="713232"/>
          </a:xfrm>
          <a:prstGeom prst="rect">
            <a:avLst/>
          </a:prstGeom>
          <a:solidFill>
            <a:srgbClr val="3A7BD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359152"/>
            <a:ext cx="713232" cy="713232"/>
          </a:xfrm>
          <a:prstGeom prst="rect">
            <a:avLst/>
          </a:prstGeom>
          <a:solidFill>
            <a:srgbClr val="5A9BF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42416" y="2359152"/>
            <a:ext cx="713232" cy="713232"/>
          </a:xfrm>
          <a:prstGeom prst="rect">
            <a:avLst/>
          </a:prstGeom>
          <a:solidFill>
            <a:srgbClr val="FFD7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10512" y="2359152"/>
            <a:ext cx="713232" cy="713232"/>
          </a:xfrm>
          <a:prstGeom prst="rect">
            <a:avLst/>
          </a:prstGeom>
          <a:solidFill>
            <a:srgbClr val="FF6B3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35915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1C1C"/>
                </a:solidFill>
              </a:rPr>
              <a:t>★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578608" y="2359152"/>
            <a:ext cx="713232" cy="713232"/>
          </a:xfrm>
          <a:prstGeom prst="rect">
            <a:avLst/>
          </a:prstGeom>
          <a:solidFill>
            <a:srgbClr val="FFD7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46704" y="2359152"/>
            <a:ext cx="713232" cy="713232"/>
          </a:xfrm>
          <a:prstGeom prst="rect">
            <a:avLst/>
          </a:prstGeom>
          <a:solidFill>
            <a:srgbClr val="3A7BD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127248"/>
            <a:ext cx="713232" cy="713232"/>
          </a:xfrm>
          <a:prstGeom prst="rect">
            <a:avLst/>
          </a:prstGeom>
          <a:solidFill>
            <a:srgbClr val="3A7BD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2416" y="3127248"/>
            <a:ext cx="713232" cy="713232"/>
          </a:xfrm>
          <a:prstGeom prst="rect">
            <a:avLst/>
          </a:prstGeom>
          <a:solidFill>
            <a:srgbClr val="FFD7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10512" y="3127248"/>
            <a:ext cx="713232" cy="713232"/>
          </a:xfrm>
          <a:prstGeom prst="rect">
            <a:avLst/>
          </a:prstGeom>
          <a:solidFill>
            <a:srgbClr val="FFD7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78608" y="3127248"/>
            <a:ext cx="713232" cy="713232"/>
          </a:xfrm>
          <a:prstGeom prst="rect">
            <a:avLst/>
          </a:prstGeom>
          <a:solidFill>
            <a:srgbClr val="FFD7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46704" y="3127248"/>
            <a:ext cx="713232" cy="713232"/>
          </a:xfrm>
          <a:prstGeom prst="rect">
            <a:avLst/>
          </a:prstGeom>
          <a:solidFill>
            <a:srgbClr val="3A7BD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3895344"/>
            <a:ext cx="713232" cy="713232"/>
          </a:xfrm>
          <a:prstGeom prst="rect">
            <a:avLst/>
          </a:prstGeom>
          <a:solidFill>
            <a:srgbClr val="3A7BD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42416" y="3895344"/>
            <a:ext cx="713232" cy="713232"/>
          </a:xfrm>
          <a:prstGeom prst="rect">
            <a:avLst/>
          </a:prstGeom>
          <a:solidFill>
            <a:srgbClr val="3A7BD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10512" y="3895344"/>
            <a:ext cx="713232" cy="713232"/>
          </a:xfrm>
          <a:prstGeom prst="rect">
            <a:avLst/>
          </a:prstGeom>
          <a:solidFill>
            <a:srgbClr val="5A9BF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78608" y="3895344"/>
            <a:ext cx="713232" cy="713232"/>
          </a:xfrm>
          <a:prstGeom prst="rect">
            <a:avLst/>
          </a:prstGeom>
          <a:solidFill>
            <a:srgbClr val="3A7BD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46704" y="3895344"/>
            <a:ext cx="713232" cy="713232"/>
          </a:xfrm>
          <a:prstGeom prst="rect">
            <a:avLst/>
          </a:prstGeom>
          <a:solidFill>
            <a:srgbClr val="3A7BD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663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44444"/>
                </a:solidFill>
              </a:rPr>
              <a:t>🟡 Loaded chunks  🔴 Player  🔵 Unloaded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444444"/>
                </a:solidFill>
              </a:rPr>
              <a:t>Each chunk = 16×16×256 blocks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89120" y="804672"/>
            <a:ext cx="4526280" cy="1169704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89120" y="804672"/>
            <a:ext cx="4526280" cy="347472"/>
          </a:xfrm>
          <a:prstGeom prst="rect">
            <a:avLst/>
          </a:prstGeom>
          <a:solidFill>
            <a:srgbClr val="2E6099"/>
          </a:solidFill>
          <a:ln w="12700">
            <a:solidFill>
              <a:srgbClr val="2E60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0" y="804672"/>
            <a:ext cx="4526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F5F5"/>
                </a:solidFill>
              </a:rPr>
              <a:t>Key Chunk Facts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26280" y="1188720"/>
            <a:ext cx="4251960" cy="7083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× 16 blocks wide, 256 blocks tall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once, then saved to disk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chunks near the player stay in RAM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+ chunk coords uniquely identify any chunk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389120" y="2010952"/>
            <a:ext cx="4526280" cy="2597624"/>
          </a:xfrm>
          <a:prstGeom prst="rect">
            <a:avLst/>
          </a:prstGeom>
          <a:solidFill>
            <a:srgbClr val="0D1117"/>
          </a:solidFill>
          <a:ln w="25400">
            <a:solidFill>
              <a:srgbClr val="5D8A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480105" y="2010270"/>
            <a:ext cx="4526280" cy="2560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D8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PSEUDOCODE — Chunk Generation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430268" y="2183665"/>
            <a:ext cx="4526280" cy="2075688"/>
          </a:xfrm>
          <a:prstGeom prst="rect">
            <a:avLst/>
          </a:prstGeom>
          <a:noFill/>
          <a:ln/>
        </p:spPr>
        <p:txBody>
          <a:bodyPr wrap="square" lIns="0" tIns="10160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generateChunk(chunk_x, chunk_z, seed):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Derive a unique seed per chunk (prevents repetition)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chunk_seed = seed XOR (chunk_x * 341873128712)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XOR (chunk_z * 132897987541)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chunk_rng = new Random(chunk_seed)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Generate every column in the 16x16 footprint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local_x IN 0..15: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local_z IN 0..15: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world_x = chunk_x * 16 + local_x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world_z = chunk_z * 16 + local_z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// Pass WORLD coordinates to noise (ensures seamless borders)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generateColumn(world_x, world_z, seed)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Place structures after terrain is ready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placeStructures(chunk_x, chunk_z, seed)</a:t>
            </a:r>
            <a:endParaRPr lang="en-US" sz="700" dirty="0"/>
          </a:p>
          <a:p>
            <a:pPr marL="0" indent="0" algn="l">
              <a:buNone/>
            </a:pP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getOrLoadChunk(chunk_x, chunk_z):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chunk in loaded_chunks:   RETURN chunk     // already in memory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chunk saved to disk:      RETURN loadChunk()</a:t>
            </a:r>
            <a:endParaRPr lang="en-US" sz="700" dirty="0"/>
          </a:p>
          <a:p>
            <a:pPr marL="0" indent="0" algn="l">
              <a:buNone/>
            </a:pPr>
            <a:r>
              <a:rPr lang="en-US" sz="700" dirty="0">
                <a:solidFill>
                  <a:srgbClr val="58D6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                        RETURN generateChunk(chunk_x, chunk_z, WORLD_SEED)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E8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Putting It All Together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98080" y="182880"/>
            <a:ext cx="1737360" cy="292608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0" y="18288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804672"/>
            <a:ext cx="274320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896112"/>
            <a:ext cx="502920" cy="5029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896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5F5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Seed Input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144475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types a seed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 one is random-chosen)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90088" y="1472184"/>
            <a:ext cx="18288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804672"/>
            <a:ext cx="274320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896112"/>
            <a:ext cx="502920" cy="5029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896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5F5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8620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PRNG Init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144475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initializes the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number generator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61888" y="1472184"/>
            <a:ext cx="18288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804672"/>
            <a:ext cx="274320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896112"/>
            <a:ext cx="502920" cy="5029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896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5F5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Noise Maps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144475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Perlin noise creates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height, temp &amp; rain maps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28600" y="2633472"/>
            <a:ext cx="274320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724912"/>
            <a:ext cx="502920" cy="5029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724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5F5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27432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Biome Map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040" y="327355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+ rain decide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biome each spot is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990088" y="3300984"/>
            <a:ext cx="18288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2633472"/>
            <a:ext cx="274320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91840" y="2724912"/>
            <a:ext cx="502920" cy="5029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2724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5F5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886200" y="27432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Block Placement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91840" y="327355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height → column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blocks per biome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961888" y="3300984"/>
            <a:ext cx="18288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0" y="2633472"/>
            <a:ext cx="2743200" cy="16002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63640" y="2724912"/>
            <a:ext cx="502920" cy="5029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2724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5F5"/>
                </a:solidFill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58000" y="27432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Structures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63640" y="3273552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Trees, caves, villages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by chunk seed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0" y="4498848"/>
            <a:ext cx="9144000" cy="64008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498848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insight: the seed is the only input. Everything else is deterministic math — same seed = same world, always.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" cy="164592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914400" cy="164592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0"/>
            <a:ext cx="914400" cy="164592"/>
          </a:xfrm>
          <a:prstGeom prst="rect">
            <a:avLst/>
          </a:prstGeom>
          <a:solidFill>
            <a:srgbClr val="4A7A2E"/>
          </a:solidFill>
          <a:ln w="12700">
            <a:solidFill>
              <a:srgbClr val="4A7A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0"/>
            <a:ext cx="914400" cy="164592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0" y="0"/>
            <a:ext cx="914400" cy="164592"/>
          </a:xfrm>
          <a:prstGeom prst="rect">
            <a:avLst/>
          </a:prstGeom>
          <a:solidFill>
            <a:srgbClr val="6DAB48"/>
          </a:solidFill>
          <a:ln w="12700">
            <a:solidFill>
              <a:srgbClr val="6DAB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0"/>
            <a:ext cx="914400" cy="164592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0"/>
            <a:ext cx="914400" cy="164592"/>
          </a:xfrm>
          <a:prstGeom prst="rect">
            <a:avLst/>
          </a:prstGeom>
          <a:solidFill>
            <a:srgbClr val="4A7A2E"/>
          </a:solidFill>
          <a:ln w="12700">
            <a:solidFill>
              <a:srgbClr val="4A7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0"/>
            <a:ext cx="914400" cy="164592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0"/>
            <a:ext cx="914400" cy="164592"/>
          </a:xfrm>
          <a:prstGeom prst="rect">
            <a:avLst/>
          </a:prstGeom>
          <a:solidFill>
            <a:srgbClr val="5D8A3C"/>
          </a:solidFill>
          <a:ln w="12700">
            <a:solidFill>
              <a:srgbClr val="5D8A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0"/>
            <a:ext cx="914400" cy="164592"/>
          </a:xfrm>
          <a:prstGeom prst="rect">
            <a:avLst/>
          </a:prstGeom>
          <a:solidFill>
            <a:srgbClr val="6DAB48"/>
          </a:solidFill>
          <a:ln w="12700">
            <a:solidFill>
              <a:srgbClr val="6DAB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164592"/>
            <a:ext cx="914400" cy="164592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164592"/>
            <a:ext cx="914400" cy="164592"/>
          </a:xfrm>
          <a:prstGeom prst="rect">
            <a:avLst/>
          </a:prstGeom>
          <a:solidFill>
            <a:srgbClr val="7A5230"/>
          </a:solidFill>
          <a:ln w="12700">
            <a:solidFill>
              <a:srgbClr val="7A52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164592"/>
            <a:ext cx="914400" cy="164592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164592"/>
            <a:ext cx="914400" cy="164592"/>
          </a:xfrm>
          <a:prstGeom prst="rect">
            <a:avLst/>
          </a:prstGeom>
          <a:solidFill>
            <a:srgbClr val="9B6A42"/>
          </a:solidFill>
          <a:ln w="12700">
            <a:solidFill>
              <a:srgbClr val="9B6A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164592"/>
            <a:ext cx="914400" cy="164592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164592"/>
            <a:ext cx="914400" cy="164592"/>
          </a:xfrm>
          <a:prstGeom prst="rect">
            <a:avLst/>
          </a:prstGeom>
          <a:solidFill>
            <a:srgbClr val="7A5230"/>
          </a:solidFill>
          <a:ln w="12700">
            <a:solidFill>
              <a:srgbClr val="7A523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164592"/>
            <a:ext cx="914400" cy="164592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164592"/>
            <a:ext cx="914400" cy="164592"/>
          </a:xfrm>
          <a:prstGeom prst="rect">
            <a:avLst/>
          </a:prstGeom>
          <a:solidFill>
            <a:srgbClr val="9B6A42"/>
          </a:solidFill>
          <a:ln w="12700">
            <a:solidFill>
              <a:srgbClr val="9B6A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164592"/>
            <a:ext cx="914400" cy="164592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164592"/>
            <a:ext cx="914400" cy="164592"/>
          </a:xfrm>
          <a:prstGeom prst="rect">
            <a:avLst/>
          </a:prstGeom>
          <a:solidFill>
            <a:srgbClr val="7A5230"/>
          </a:solidFill>
          <a:ln w="12700">
            <a:solidFill>
              <a:srgbClr val="7A52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983480"/>
            <a:ext cx="914400" cy="164592"/>
          </a:xfrm>
          <a:prstGeom prst="rect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983480"/>
            <a:ext cx="914400" cy="164592"/>
          </a:xfrm>
          <a:prstGeom prst="rect">
            <a:avLst/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0" y="4983480"/>
            <a:ext cx="914400" cy="164592"/>
          </a:xfrm>
          <a:prstGeom prst="rect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4983480"/>
            <a:ext cx="914400" cy="164592"/>
          </a:xfrm>
          <a:prstGeom prst="rect">
            <a:avLst/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0" y="4983480"/>
            <a:ext cx="914400" cy="164592"/>
          </a:xfrm>
          <a:prstGeom prst="rect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4983480"/>
            <a:ext cx="914400" cy="164592"/>
          </a:xfrm>
          <a:prstGeom prst="rect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0" y="4983480"/>
            <a:ext cx="914400" cy="164592"/>
          </a:xfrm>
          <a:prstGeom prst="rect">
            <a:avLst/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4983480"/>
            <a:ext cx="914400" cy="164592"/>
          </a:xfrm>
          <a:prstGeom prst="rect">
            <a:avLst/>
          </a:prstGeom>
          <a:solidFill>
            <a:srgbClr val="5A5A5A"/>
          </a:solidFill>
          <a:ln w="12700">
            <a:solidFill>
              <a:srgbClr val="5A5A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4983480"/>
            <a:ext cx="914400" cy="164592"/>
          </a:xfrm>
          <a:prstGeom prst="rect">
            <a:avLst/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4983480"/>
            <a:ext cx="914400" cy="164592"/>
          </a:xfrm>
          <a:prstGeom prst="rect">
            <a:avLst/>
          </a:prstGeom>
          <a:solidFill>
            <a:srgbClr val="6A6A6A"/>
          </a:solidFill>
          <a:ln w="12700">
            <a:solidFill>
              <a:srgbClr val="6A6A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F5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Classroom Activity &amp; Key Takeaways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228600" y="1051560"/>
            <a:ext cx="4023360" cy="3474720"/>
          </a:xfrm>
          <a:prstGeom prst="rect">
            <a:avLst/>
          </a:prstGeom>
          <a:solidFill>
            <a:srgbClr val="000000"/>
          </a:solidFill>
          <a:ln w="25400">
            <a:solidFill>
              <a:srgbClr val="AACC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1051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65760" y="1508760"/>
            <a:ext cx="374904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are numbers that start deterministic randomness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PRNGs produce repeatable sequences from a seed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functions create smooth, natural-looking terrain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Biomes use 2D noise for temperature and rainfall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break the world into manageable 16×16 pieces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seed = identical world on any device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480560" y="1051560"/>
            <a:ext cx="4434840" cy="3474720"/>
          </a:xfrm>
          <a:prstGeom prst="rect">
            <a:avLst/>
          </a:prstGeom>
          <a:solidFill>
            <a:srgbClr val="000000"/>
          </a:solidFill>
          <a:ln w="25400">
            <a:solidFill>
              <a:srgbClr val="F5C51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80560" y="105156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🎮 Try It Yourself!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617720" y="1508760"/>
            <a:ext cx="4160520" cy="2880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Open Minecraft and create a world with seed: 12345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Note the spawn biome and terrain around you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Create a NEW world with the SAME seed — is it identical?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Change the seed by 1 (e.g. 12346) — how different is the world?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Discussion: Why does even a tiny seed change produce a completely different world?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0" y="4617720"/>
            <a:ext cx="9144000" cy="34747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0" y="461772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BCC"/>
                </a:solidFill>
              </a:rPr>
              <a:t>Concepts covered: PRNGs · Perlin Noise · Determinism · Biome Mapping · Chunk Systems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2045</Words>
  <Application>Microsoft Office PowerPoint</Application>
  <PresentationFormat>Bildspel på skärmen (16:9)</PresentationFormat>
  <Paragraphs>287</Paragraphs>
  <Slides>10</Slides>
  <Notes>10</Notes>
  <HiddenSlides>0</HiddenSlides>
  <MMClips>0</MMClips>
  <ScaleCrop>false</ScaleCrop>
  <HeadingPairs>
    <vt:vector size="6" baseType="variant">
      <vt:variant>
        <vt:lpstr>Använt teckensnitt</vt:lpstr>
      </vt:variant>
      <vt:variant>
        <vt:i4>5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Calibri</vt:lpstr>
      <vt:lpstr>Consolas</vt:lpstr>
      <vt:lpstr>Georgia</vt:lpstr>
      <vt:lpstr>Office Theme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Minecraft Map Generation from Seeds</dc:title>
  <dc:subject>PptxGenJS Presentation</dc:subject>
  <dc:creator>Classroom Tutorial</dc:creator>
  <cp:lastModifiedBy>Andreas Bank</cp:lastModifiedBy>
  <cp:revision>9</cp:revision>
  <dcterms:created xsi:type="dcterms:W3CDTF">2026-04-14T05:17:51Z</dcterms:created>
  <dcterms:modified xsi:type="dcterms:W3CDTF">2026-04-14T13:28:39Z</dcterms:modified>
</cp:coreProperties>
</file>